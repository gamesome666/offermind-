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90e7877dde8b476a" Type="http://schemas.openxmlformats.org/officeDocument/2006/relationships/officeDocument" Target="ppt/presentation.xml"/><Relationship Id="R9995fcaabc0f40df" Type="http://schemas.openxmlformats.org/officeDocument/2006/relationships/extended-properties" Target="docProps/app.xml"/><Relationship Id="Ra548562de4294307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282f945bbb4059"/>
  </p:sldMasterIdLst>
  <p:notesMasterIdLst>
    <p:notesMasterId xmlns:r="http://schemas.openxmlformats.org/officeDocument/2006/relationships" r:id="R4681f12c2e344b0b"/>
  </p:notesMasterIdLst>
  <p:sldIdLst>
    <p:sldId xmlns:r="http://schemas.openxmlformats.org/officeDocument/2006/relationships" id="256" r:id="R96c8efc788fa4232"/>
    <p:sldId xmlns:r="http://schemas.openxmlformats.org/officeDocument/2006/relationships" id="257" r:id="R919d4df6c8484787"/>
    <p:sldId xmlns:r="http://schemas.openxmlformats.org/officeDocument/2006/relationships" id="258" r:id="R2a9ba9d8d87245c1"/>
    <p:sldId xmlns:r="http://schemas.openxmlformats.org/officeDocument/2006/relationships" id="259" r:id="R2c1335ee889245d8"/>
    <p:sldId xmlns:r="http://schemas.openxmlformats.org/officeDocument/2006/relationships" id="260" r:id="R2070f594380345df"/>
    <p:sldId xmlns:r="http://schemas.openxmlformats.org/officeDocument/2006/relationships" id="261" r:id="Ra6fb04c8085d4ad5"/>
    <p:sldId xmlns:r="http://schemas.openxmlformats.org/officeDocument/2006/relationships" id="262" r:id="R5491d41a5c5245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2070f594380345df" Type="http://schemas.openxmlformats.org/officeDocument/2006/relationships/slide" Target="slides/slide5.xml"/><Relationship Id="R2a9ba9d8d87245c1" Type="http://schemas.openxmlformats.org/officeDocument/2006/relationships/slide" Target="slides/slide3.xml"/><Relationship Id="R2c1335ee889245d8" Type="http://schemas.openxmlformats.org/officeDocument/2006/relationships/slide" Target="slides/slide4.xml"/><Relationship Id="R2cd6c381fb6b43bd" Type="http://schemas.openxmlformats.org/officeDocument/2006/relationships/theme" Target="theme/theme1.xml"/><Relationship Id="R4681f12c2e344b0b" Type="http://schemas.openxmlformats.org/officeDocument/2006/relationships/notesMaster" Target="notesMasters/notesMaster1.xml"/><Relationship Id="R49fcddb208994c93" Type="http://schemas.openxmlformats.org/officeDocument/2006/relationships/tableStyles" Target="tableStyles.xml"/><Relationship Id="R5491d41a5c524574" Type="http://schemas.openxmlformats.org/officeDocument/2006/relationships/slide" Target="slides/slide7.xml"/><Relationship Id="R600468e8da7441bb" Type="http://schemas.openxmlformats.org/officeDocument/2006/relationships/presProps" Target="presProps.xml"/><Relationship Id="R919d4df6c8484787" Type="http://schemas.openxmlformats.org/officeDocument/2006/relationships/slide" Target="slides/slide2.xml"/><Relationship Id="R96c8efc788fa4232" Type="http://schemas.openxmlformats.org/officeDocument/2006/relationships/slide" Target="slides/slide1.xml"/><Relationship Id="Ra6fb04c8085d4ad5" Type="http://schemas.openxmlformats.org/officeDocument/2006/relationships/slide" Target="slides/slide6.xml"/><Relationship Id="Rae282f945bbb4059" Type="http://schemas.openxmlformats.org/officeDocument/2006/relationships/slideMaster" Target="slideMasters/slideMaster1.xml"/></Relationships>
</file>

<file path=ppt/notesMasters/_rels/notesMaster1.xml.rels><?xml version='1.0' encoding='UTF-8' standalone='yes'?>
<Relationships xmlns="http://schemas.openxmlformats.org/package/2006/relationships"><Relationship Id="R6b85b4b128944cd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6f50c7efdf5449f" Type="http://schemas.openxmlformats.org/officeDocument/2006/relationships/slide" Target="../slides/slide1.xml"/><Relationship Id="R9c0ea77dd3d04ded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3e3b0820a89d4e5c" Type="http://schemas.openxmlformats.org/officeDocument/2006/relationships/slide" Target="../slides/slide2.xml"/><Relationship Id="R5fbb87b888804d8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887f30afb7b74d3c" Type="http://schemas.openxmlformats.org/officeDocument/2006/relationships/slide" Target="../slides/slide3.xml"/><Relationship Id="Rb8c08d781a5e4168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1521087adfac4c24" Type="http://schemas.openxmlformats.org/officeDocument/2006/relationships/notesMaster" Target="../notesMasters/notesMaster1.xml"/><Relationship Id="Ra5773d1873ae45df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05438941577c4149" Type="http://schemas.openxmlformats.org/officeDocument/2006/relationships/slide" Target="../slides/slide5.xml"/><Relationship Id="R4936b9a66f2246bf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7eabfe11e3214c4e" Type="http://schemas.openxmlformats.org/officeDocument/2006/relationships/slide" Target="../slides/slide6.xml"/><Relationship Id="Rae0defa9b82a45b5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86277d0ced4347b8" Type="http://schemas.openxmlformats.org/officeDocument/2006/relationships/notesMaster" Target="../notesMasters/notesMaster1.xml"/><Relationship Id="Rb2684e35abf74466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a9a4a77dfa64da3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f21036d48d9c4dfa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0ae4773abb05472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dae76f393b4744e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7aa96b70ff24441e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42b54966d5c74d4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A1E346-AB24-4C2A-89C5-49C506E460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5C4E162-18BD-4FCE-9A7F-6DC5F8FF62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EF84994-D796-4340-B8FE-0C9BC7413E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28B8CA-822B-4243-B2CF-9F545F4694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8D2125A-50BC-4B20-B585-CB21DE25CC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B69A97-7F9C-4975-B06B-24221F0F1C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70D34D-A9CF-42AF-97D4-0064D3C903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6852F27-4715-4342-A0FE-EC61C69815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D61352-51D6-4189-AE7C-AA9794D01D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09A954-7CEC-4EC3-98EC-0D6AB9703D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15f228bd35b4ccd" Type="http://schemas.openxmlformats.org/officeDocument/2006/relationships/slideLayout" Target="../slideLayouts/slideLayout2.xml"/><Relationship Id="R4af3e837b1164d51" Type="http://schemas.openxmlformats.org/officeDocument/2006/relationships/theme" Target="theme/theme2.xml"/><Relationship Id="R668398e367e646ff" Type="http://schemas.openxmlformats.org/officeDocument/2006/relationships/slideLayout" Target="../slideLayouts/slideLayout3.xml"/><Relationship Id="R93bf057aed524a33" Type="http://schemas.openxmlformats.org/officeDocument/2006/relationships/slideLayout" Target="../slideLayouts/slideLayout4.xml"/><Relationship Id="Rc424f70f240649c0" Type="http://schemas.openxmlformats.org/officeDocument/2006/relationships/slideLayout" Target="../slideLayouts/slideLayout1.xml"/><Relationship Id="Rc6de6c5f3e4e4a92" Type="http://schemas.openxmlformats.org/officeDocument/2006/relationships/slideLayout" Target="../slideLayouts/slideLayout6.xml"/><Relationship Id="Rc7c45d09ed164f24" Type="http://schemas.openxmlformats.org/officeDocument/2006/relationships/slideLayout" Target="../slideLayouts/slideLayout5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24f70f240649c0"/>
    <p:sldLayoutId xmlns:r="http://schemas.openxmlformats.org/officeDocument/2006/relationships" id="2147483650" r:id="R315f228bd35b4ccd"/>
    <p:sldLayoutId xmlns:r="http://schemas.openxmlformats.org/officeDocument/2006/relationships" id="2147483651" r:id="R668398e367e646ff"/>
    <p:sldLayoutId xmlns:r="http://schemas.openxmlformats.org/officeDocument/2006/relationships" id="2147483652" r:id="R93bf057aed524a33"/>
    <p:sldLayoutId xmlns:r="http://schemas.openxmlformats.org/officeDocument/2006/relationships" id="2147483653" r:id="Rc7c45d09ed164f24"/>
    <p:sldLayoutId xmlns:r="http://schemas.openxmlformats.org/officeDocument/2006/relationships" id="2147483654" r:id="Rc6de6c5f3e4e4a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d673b8d34a341cd" Type="http://schemas.openxmlformats.org/officeDocument/2006/relationships/notesSlide" Target="../notesSlides/notesSlide1.xml"/><Relationship Id="Rab7562c363ac4354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b32cb09e64804de7" Type="http://schemas.openxmlformats.org/officeDocument/2006/relationships/slideLayout" Target="../slideLayouts/slideLayout6.xml"/><Relationship Id="Rc6e554c0144c48e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6ad814eda050441b" Type="http://schemas.openxmlformats.org/officeDocument/2006/relationships/notesSlide" Target="../notesSlides/notesSlide3.xml"/><Relationship Id="Rc98117a0af1c43d6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1b42472058874f22" Type="http://schemas.openxmlformats.org/officeDocument/2006/relationships/slideLayout" Target="../slideLayouts/slideLayout6.xml"/><Relationship Id="R4fdc058bb7a6417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02307fa5baa43d7" Type="http://schemas.openxmlformats.org/officeDocument/2006/relationships/notesSlide" Target="../notesSlides/notesSlide5.xml"/><Relationship Id="Rc398429991534742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35f5583d30ca4200" Type="http://schemas.openxmlformats.org/officeDocument/2006/relationships/slideLayout" Target="../slideLayouts/slideLayout6.xml"/><Relationship Id="Ra29a5ff63ece4b7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31c1966bffa84719" Type="http://schemas.openxmlformats.org/officeDocument/2006/relationships/notesSlide" Target="../notesSlides/notesSlide7.xml"/><Relationship Id="Rb2e8eb8c766849b8" Type="http://schemas.openxmlformats.org/officeDocument/2006/relationships/slideLayout" Target="../slideLayouts/slideLayout6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3ADF2E-9AB4-4350-8F3B-7B5CE5B4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OfferMind —— 可观测 Agentic RAG 驱动的 AI 求职面试训练平台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C6F90-36B2-4F49-AD02-2F7C2A68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《大模型微调与部署技术》课程设计开题答辩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56499-9F83-417C-A872-89B6BDB8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建议 15 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1EBED-EBF0-47ED-879D-D83519D4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01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79F05-E4C0-428E-9934-D1E4BEB8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一句话介绍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43A50-C29D-4555-A9B1-60E7E9A1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面向计算机方向求职者，用「AI 定向刷题评测 + 简历诊断 + 模拟面试」三段闭环，把每次作答变成可解释、可追踪、可复习的训练数据。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567B9-CF52-4DE9-87D8-1966E291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班级与小组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44B42-ED82-47E3-85F1-A9E9C11E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48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【待填：班级】  第 【X】 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96F9D-1D4A-440A-8A1E-3B9CA3B1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小组成员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E019A-9AAF-4C13-BFC7-9AD42CAF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5048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马乾恩（组长） / 蒋志敏 / 李贤星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6DD1A-B07A-4C8D-8575-AAD34127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汇报共 4 分钟 + 20–30 秒短演示，提问另计 3 分钟。</a:t>
            </a:r>
          </a:p>
          <a:p xmlns:a="http://schemas.openxmlformats.org/drawingml/2006/main">
            <a:r>
              <a:rPr sz="15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当前已实现：13 个前端页面 · 9 张 LangGraph 状态图 · 9 个 SSE 流式端点 · 五条业务链路真数据跑通。</a:t>
            </a:r>
          </a:p>
        </p:txBody>
      </p:sp>
    </p:spTree>
    <p:extLst>
      <p:ext uri="{BB962C8B-B14F-4D97-AF65-F5344CB8AC3E}">
        <p14:creationId xmlns:p14="http://schemas.microsoft.com/office/powerpoint/2010/main" val="13770462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D3D3E-DC19-4D0D-898D-1A03E76C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痛点与改进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B39CD-81B3-4BE9-A1F5-024635D6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对应：问题与范围 15分。聚焦一个具体使用痛点。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122E8-E788-48DE-8657-2D45E98E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建议 40 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C2C24-C3FD-4C4F-920F-EFA7B114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02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AF2E1-0CAC-4A2C-8D2E-372A651E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现成方案与使用场景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B61FF-05CE-40FF-A9B5-6D94843F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8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牛客网题库（nowcoder.com）：计算机学生按公司/岗位刷专项题 —— 题是静态的，做完只有对错，不给针对我的评价。</a:t>
            </a:r>
          </a:p>
          <a:p xmlns:a="http://schemas.openxmlformats.org/drawingml/2006/main">
            <a:r>
              <a:rPr sz="148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力扣（leetcode.cn）：算法专项 —— 没有标准答案的自评能力，八股完全覆盖不到。</a:t>
            </a:r>
          </a:p>
          <a:p xmlns:a="http://schemas.openxmlformats.org/drawingml/2006/main">
            <a:r>
              <a:rPr sz="148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直接问 ChatGPT / DeepSeek：临时问概念 —— 黑盒、通用答案、评分不可解释。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E5E1F-D738-4CE5-B6B5-F2EB0F7A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实际遇到的痛点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2E14F-CB59-458E-B289-19D53642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8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我们组同学刷完牛客「MySQL 索引」专项后问 DeepSeek「我这块能拿几分」，模型回「3 分 + 建议多练」。</a:t>
            </a:r>
          </a:p>
          <a:p xmlns:a="http://schemas.openxmlformats.org/drawingml/2006/main">
            <a:r>
              <a:rPr sz="148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四个缺口：① 黑盒，看不到检索了什么；② 无参照，给的是通用知识而非「这个方向+这个难度」的答案；③ 评分不可解释，不知扣在正确性/完整性/表达/术语；④ 无追踪，对话结束就没了。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F9AC9-4016-40A9-AF84-18B3F9DF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432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本组准备怎样改进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6DE11-20EE-4CEB-9EF2-973D8367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14700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改哪一步：把「一次性问答」改成「有参照 + 有量表 + 有记忆」的闭环。</a:t>
            </a:r>
          </a:p>
          <a:p xmlns:a="http://schemas.openxmlformats.org/drawingml/2006/main">
            <a:r>
              <a:rPr sz="13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· 加参照：出题/评分前先检索题库库（BGE-M3 + rerank），用检索到的参考答案约束生成</a:t>
            </a:r>
          </a:p>
          <a:p xmlns:a="http://schemas.openxmlformats.org/drawingml/2006/main">
            <a:r>
              <a:rPr sz="13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· 加量表：四维 rubric（正确性 0.40 / 完整性 0.30 / 表达 0.15 / 术语 0.15，各 0–5），每维必须给 reason</a:t>
            </a:r>
          </a:p>
          <a:p xmlns:a="http://schemas.openxmlformats.org/drawingml/2006/main">
            <a:r>
              <a:rPr sz="13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· 加记忆：错题进 SM-2 复习排期，每次作答更新能力画像</a:t>
            </a:r>
          </a:p>
          <a:p xmlns:a="http://schemas.openxmlformats.org/drawingml/2006/main">
            <a:r>
              <a:rPr sz="13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· 加透明：每一步（模型调用/向量检索/工具）以 SSE 实时推给执行面板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67E4D-E44B-4A4A-83B8-40408D47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当前不足与取舍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2541A-B8C3-4B2E-B56D-017B2228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① 题库仅 12 条（后端 6 / 前端 3 / 算法 3），扩充计划见第 3 页；</a:t>
            </a:r>
          </a:p>
          <a:p xmlns:a="http://schemas.openxmlformats.org/drawingml/2006/main">
            <a:r>
              <a:rPr sz="13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② 面经企业库未实现（PRD 三个知识库目前只落地题库库）；</a:t>
            </a:r>
          </a:p>
          <a:p xmlns:a="http://schemas.openxmlformats.org/drawingml/2006/main">
            <a:r>
              <a:rPr sz="13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③ 主生成走云端，有延迟与费用，vLLM 本地脚本已就绪但待 GPU 环境；</a:t>
            </a:r>
          </a:p>
          <a:p xmlns:a="http://schemas.openxmlformats.org/drawingml/2006/main">
            <a:r>
              <a:rPr sz="13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④ 简历仅解析不留档；⑤ 画像由前端主动上报，非后端自动更新；⑥ Langfuse 依赖已声明但代码零引用，轨迹刷新即丢；⑦ 当前零单元测试。</a:t>
            </a:r>
          </a:p>
          <a:p xmlns:a="http://schemas.openxmlformats.org/drawingml/2006/main">
            <a:r>
              <a:rPr sz="13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首版边界：一个用户、一个方向、一个知识库、一套四维量表 —— 先把「刷题→评分→错题→复习」这一条链做到可信。</a:t>
            </a:r>
          </a:p>
        </p:txBody>
      </p:sp>
    </p:spTree>
    <p:extLst>
      <p:ext uri="{BB962C8B-B14F-4D97-AF65-F5344CB8AC3E}">
        <p14:creationId xmlns:p14="http://schemas.microsoft.com/office/powerpoint/2010/main" val="6814781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DC27F-3DAA-4F5B-B815-CCCEB1F0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数据准备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F8196-B044-4BD7-8C3B-9A2CED51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对应：数据准备 15分。展示已经拿到的材料。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3843E-2D63-489B-BE6D-8B1E2784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建议 25 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B4AFC-0A92-43C5-8D18-DBE3F626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03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0CAEE-881A-4EF7-A073-3C2FA452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来源与当前规模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627CD-022F-4C8C-8660-98E80A83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81225"/>
            <a:ext cx="1066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来源：自建种子题库 backend/app/rag/seed_data.py（仓库内可查看，非抓取，避免版权问题）</a:t>
            </a:r>
          </a:p>
          <a:p xmlns:a="http://schemas.openxmlformats.org/drawingml/2006/main"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当前规模：12 条 —— 后端 6 / 前端 3 / 算法 3；难度 入门 4 / 中级 6 / 高级 2；题型 八股 7 / 算法 3 / 业务 2</a:t>
            </a:r>
          </a:p>
          <a:p xmlns:a="http://schemas.openxmlformats.org/drawingml/2006/main"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每题 6 字段：direction / difficulty / question_type / content / reference_answer / key_points</a:t>
            </a:r>
          </a:p>
          <a:p xmlns:a="http://schemas.openxmlformats.org/drawingml/2006/main"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入库：python -m app.rag.ingest → PostgreSQL + Qdrant(question_bank, 1024 维, COSINE)，一题一个 point，不做 chunk 切分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0EE34-1882-47B7-96A4-7EB53B05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一条实际样例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B80B2-78F4-4D37-BEE1-A7299CAE6BFA}"/>
              </a:ext>
            </a:extLst>
          </p:cNvPr>
          <p:cNvGraphicFramePr/>
          <p:nvPr/>
        </p:nvGraphicFramePr>
        <p:xfrm>
          <a:off xmlns:a="http://schemas.openxmlformats.org/drawingml/2006/main" x="666750" y="3448050"/>
          <a:ext xmlns:a="http://schemas.openxmlformats.org/drawingml/2006/main" cx="10668000" cy="1562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334000"/>
                <a:gridCol w="5334000"/>
              </a:tblGrid>
              <a:tr h="343997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158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原始输入或资料</a:t>
                      </a:r>
                    </a:p>
                  </a:txBody>
                  <a:tcPr marL="91440" marR="91440" marT="45720" marB="45720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158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字段、标签或预期输出</a:t>
                      </a:r>
                    </a:p>
                  </a:txBody>
                  <a:tcPr marL="91440" marR="91440" marT="45720" marB="45720" anchor="ctr">
                    <a:solidFill>
                      <a:srgbClr val="F2F6F9"/>
                    </a:solidFill>
                  </a:tcPr>
                </a:tc>
              </a:tr>
              <a:tr h="1219626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15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方向：后端　难度：中级　题型：八股</a:t>
                      </a:r>
                    </a:p>
                    <a:p>
                      <a:r>
                        <a:rPr lang="zh-CN" sz="15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题干：MySQL 索引为什么使用 B+ 树而不是 B 树或红黑树？</a:t>
                      </a:r>
                    </a:p>
                    <a:p>
                      <a:r>
                        <a:rPr lang="zh-CN" sz="15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出处：自建种子题库 seed_data.py 第 3 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9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参考答案：1) B+ 树非叶子节点只存键不存数据，单节点能容纳更多键，树更矮，磁盘 IO 次数更少；2) 叶子节点用双向链表串联，支持高效范围查询和排序，而 B 树范围查询需中序遍历；3) 相比红黑树（二叉），B+ 树是多叉树，高度更低，更适合磁盘这种 IO 密集型场景。</a:t>
                      </a:r>
                    </a:p>
                    <a:p>
                      <a:r>
                        <a:rPr lang="zh-CN" sz="9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考点（key_points）：B+树 vs B树（数据存放、范围查询）、磁盘IO、树高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F6515-E244-492B-9327-D3F6FE60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9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标注规则：四维 rubric（正确性 0.40 / 完整性 0.30 / 表达 0.15 / 术语 0.15，各 0–5）</a:t>
            </a:r>
          </a:p>
          <a:p xmlns:a="http://schemas.openxmlformats.org/drawingml/2006/main">
            <a:r>
              <a:rPr sz="1019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总分 = 四维加权求和，四舍五入到 1 分；每维必须附 reason，禁止裸分数</a:t>
            </a:r>
          </a:p>
          <a:p xmlns:a="http://schemas.openxmlformats.org/drawingml/2006/main">
            <a:r>
              <a:rPr sz="1019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gold.jsonl 已有 2 条完整人工标注（model_score 四维 + reason，human_scores 真值）</a:t>
            </a:r>
          </a:p>
          <a:p xmlns:a="http://schemas.openxmlformats.org/drawingml/2006/main">
            <a:r>
              <a:rPr sz="1019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质量与划分：12 条低于建议的 20–50 条 → 计划扩到 50 条；评测集 40 训 / 10 条独立测试隔离</a:t>
            </a:r>
          </a:p>
          <a:p xmlns:a="http://schemas.openxmlformats.org/drawingml/2006/main">
            <a:r>
              <a:rPr sz="1019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⚠ 当前导出脚本未按 answer_id 排除测试集（训练/评测泄漏），已定位改造点，列入 P0</a:t>
            </a:r>
          </a:p>
        </p:txBody>
      </p:sp>
    </p:spTree>
    <p:extLst>
      <p:ext uri="{BB962C8B-B14F-4D97-AF65-F5344CB8AC3E}">
        <p14:creationId xmlns:p14="http://schemas.microsoft.com/office/powerpoint/2010/main" val="19668692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77612-B22F-4E11-A5D1-E368F3E8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技术实现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02781-FD15-4772-B4CD-8BF01D14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对应：技术与部署 25分。写清关键步骤和本组实现。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24E90-13DE-446A-A8B4-1655C1BC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建议 45 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00AFA-CECC-4ABD-943F-B8CCF488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04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91BDD-C6A6-40A6-9E42-0B2D0268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6667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DF"/>
            </a:solidFill>
            <a:prstDash val="dash"/>
          </a:ln>
        </p:spPr>
        <p:txBody>
          <a:bodyPr xmlns:a="http://schemas.openxmlformats.org/drawingml/2006/main" wrap="square" lIns="171450" tIns="171450" rIns="171450" bIns="17145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【在此放从输入到输出的流程图】</a:t>
            </a:r>
          </a:p>
          <a:p xmlns:a="http://schemas.openxmlformats.org/drawingml/2006/main">
            <a:r>
              <a:rPr sz="116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前端 Next.js 15 + React 19（13 页）→ FastAPI(JWT+bcrypt) → LangGraph 9 图 12 节点</a:t>
            </a:r>
          </a:p>
          <a:p xmlns:a="http://schemas.openxmlformats.org/drawingml/2006/main">
            <a:r>
              <a:rPr sz="116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→ BGE-M3 向量检索 Qdrant + bge-reranker-v2-m3 精排（dense/sparse/hybrid-RRF 三模式）</a:t>
            </a:r>
          </a:p>
          <a:p xmlns:a="http://schemas.openxmlformats.org/drawingml/2006/main">
            <a:r>
              <a:rPr sz="116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→ LiteLLM 进程内 Router → 云端 deepseek-v4-flash 或本地 vLLM:8001</a:t>
            </a:r>
          </a:p>
          <a:p xmlns:a="http://schemas.openxmlformats.org/drawingml/2006/main">
            <a:r>
              <a:rPr sz="116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→ PostgreSQL 事务数据 + Qdrant 文本片段（chunk_id 关联）</a:t>
            </a:r>
          </a:p>
          <a:p xmlns:a="http://schemas.openxmlformats.org/drawingml/2006/main">
            <a:r>
              <a:rPr sz="116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每节点推 SSE step event：{id, type, status, payload, duration_ms} —— 全程可观测</a:t>
            </a:r>
          </a:p>
          <a:p xmlns:a="http://schemas.openxmlformats.org/drawingml/2006/main">
            <a:r>
              <a:rPr sz="116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每一步标出实际使用的工具或模型。</a:t>
            </a:r>
          </a:p>
          <a:p xmlns:a="http://schemas.openxmlformats.org/drawingml/2006/main">
            <a:r>
              <a:rPr sz="116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用文字标明“现成组件”和“本组新增”。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BA3AC-5EE0-4AF6-B2D1-72641C52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模型与方法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CDE1C-34AB-4925-818E-69B99A4B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62175"/>
            <a:ext cx="3667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8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Embedding：BAAI/bge-m3（本地，1024 维）</a:t>
            </a:r>
          </a:p>
          <a:p xmlns:a="http://schemas.openxmlformats.org/drawingml/2006/main">
            <a:r>
              <a:rPr sz="148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Rerank：BAAI/bge-reranker-v2-m3（本地）</a:t>
            </a:r>
          </a:p>
          <a:p xmlns:a="http://schemas.openxmlformats.org/drawingml/2006/main">
            <a:r>
              <a:rPr sz="148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主生成：deepseek-v4-flash（云端，OpenAI 兼容）</a:t>
            </a:r>
          </a:p>
          <a:p xmlns:a="http://schemas.openxmlformats.org/drawingml/2006/main">
            <a:r>
              <a:rPr sz="148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编排：LangGraph 9 张 StateGraph / 12 节点</a:t>
            </a:r>
          </a:p>
          <a:p xmlns:a="http://schemas.openxmlformats.org/drawingml/2006/main">
            <a:r>
              <a:rPr sz="148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检索：稠密 / BM25(jieba) / hybrid(RRF 融合) 三模式，后台热切换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05156-28F1-41ED-8396-3EB1FF4B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671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运行与部署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B43C3-E86D-4AC6-BAF5-AB1080DE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38575"/>
            <a:ext cx="366712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本地：BGE-M3 + reranker 懒加载预热（约 25s，不阻塞启动）；Docker Compose 起 PostgreSQL/Qdrant/Redis</a:t>
            </a:r>
          </a:p>
          <a:p xmlns:a="http://schemas.openxmlformats.org/drawingml/2006/main">
            <a:r>
              <a:rPr sz="13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云端：主生成按 token 计费；一次「出题→作答→评分→追问」约 4 次调用</a:t>
            </a:r>
          </a:p>
          <a:p xmlns:a="http://schemas.openxmlformats.org/drawingml/2006/main">
            <a:r>
              <a:rPr sz="13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GPU：无 GPU 环境。vLLM 脚本已就绪（fp16/awq/gptq，端口 8001，Qwen2.5-7B）</a:t>
            </a:r>
          </a:p>
          <a:p xmlns:a="http://schemas.openxmlformats.org/drawingml/2006/main">
            <a:r>
              <a:rPr sz="13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显存估计：7B fp16 约 16GB / AWQ·GPTQ 约 6GB（经验值，非实测）</a:t>
            </a:r>
          </a:p>
          <a:p xmlns:a="http://schemas.openxmlformats.org/drawingml/2006/main">
            <a:r>
              <a:rPr sz="13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热切换：后台改 Base URL 即生效，不用改代码不用重启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1C358-9683-4278-A2C7-B10D32A7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课程技术实验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414BD-522C-4432-9304-3F63E6E8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评分器 LoRA 微调 + 量化档位对比（覆盖课程「微调」与「部署」两个主题）</a:t>
            </a:r>
          </a:p>
          <a:p xmlns:a="http://schemas.openxmlformats.org/drawingml/2006/main"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主变量 = 评分器模型（云端 deepseek-v4-flash vs LoRA 微调后的 Qwen2.5-1.5B）；</a:t>
            </a:r>
          </a:p>
          <a:p xmlns:a="http://schemas.openxmlformats.org/drawingml/2006/main"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次变量 = 部署档位（云端 vs vLLM fp16/awq/gptq）</a:t>
            </a:r>
          </a:p>
          <a:p xmlns:a="http://schemas.openxmlformats.org/drawingml/2006/main"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数据：系统自身 answers 表 → export_sft_dataset.py 导出 alpaca 格式；prompt 与线上逐字一致</a:t>
            </a:r>
          </a:p>
          <a:p xmlns:a="http://schemas.openxmlformats.org/drawingml/2006/main"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配置：LoRA r=16 α=32 / lr 1e-4 / 3 epoch / bf16 / 等效 batch 16 / cutoff_len 4096</a:t>
            </a:r>
          </a:p>
          <a:p xmlns:a="http://schemas.openxmlformats.org/drawingml/2006/main"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评测：一致率（±1 分）+ exact + 每维 MAE；eval_grader.py 默认读运行时配置而非 .env</a:t>
            </a:r>
          </a:p>
        </p:txBody>
      </p:sp>
    </p:spTree>
    <p:extLst>
      <p:ext uri="{BB962C8B-B14F-4D97-AF65-F5344CB8AC3E}">
        <p14:creationId xmlns:p14="http://schemas.microsoft.com/office/powerpoint/2010/main" val="4687192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708DA9-72C5-4B7F-82AD-157D71E5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最小验证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ACEF5-A055-461B-9B37-2DCC6F5C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对应：最小技术验证 20分。可在本页进行1—2分钟演示。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BA77C-9829-4DAD-ACDD-659C0CF4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建议 90 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D6B02-F9FF-4397-BBCC-A4E6ADC0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05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7762D-B5B7-4BD5-83D2-6E9EAD38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81175"/>
            <a:ext cx="65722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DF"/>
            </a:solidFill>
            <a:prstDash val="dash"/>
          </a:ln>
        </p:spPr>
        <p:txBody>
          <a:bodyPr xmlns:a="http://schemas.openxmlformats.org/drawingml/2006/main" wrap="square" lIns="171450" tIns="171450" rIns="171450" bIns="17145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【放入真实运行截图或演示入口】</a:t>
            </a:r>
          </a:p>
          <a:p xmlns:a="http://schemas.openxmlformats.org/drawingml/2006/main">
            <a:r>
              <a:rPr sz="146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演示脚本（20–30 秒）：</a:t>
            </a:r>
          </a:p>
          <a:p xmlns:a="http://schemas.openxmlformats.org/drawingml/2006/main">
            <a:r>
              <a:rPr sz="146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1. 打开 http://localhost:3000/practice → 点「出题」（后端/中级）</a:t>
            </a:r>
          </a:p>
          <a:p xmlns:a="http://schemas.openxmlformats.org/drawingml/2006/main">
            <a:r>
              <a:rPr sz="146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2. 右侧执行面板实时出现 3 行步骤并各带耗时：检索 → 生成 → 去重</a:t>
            </a:r>
          </a:p>
          <a:p xmlns:a="http://schemas.openxmlformats.org/drawingml/2006/main">
            <a:r>
              <a:rPr sz="146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3. 管理端改 top_k / 检索模式 → 再出一次题，步骤数字跟着变</a:t>
            </a:r>
          </a:p>
          <a:p xmlns:a="http://schemas.openxmlformats.org/drawingml/2006/main">
            <a:r>
              <a:rPr sz="146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让观众看见输入、实际输出和关键过程。</a:t>
            </a:r>
          </a:p>
          <a:p xmlns:a="http://schemas.openxmlformats.org/drawingml/2006/main">
            <a:r>
              <a:rPr sz="146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⚠ 答辩前须补拍界面截图：docs/images/ 下 22 张全是 Mermaid 架构图，无界面截图</a:t>
            </a:r>
          </a:p>
          <a:p xmlns:a="http://schemas.openxmlformats.org/drawingml/2006/main">
            <a:r>
              <a:rPr sz="146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兜底：投屏 backend/uvicorn.log 的真实 200 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26845-644F-4BD0-94A7-AE489A45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3762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这次实际跑了什么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BB4C4-7BFE-4566-90A8-54A32138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81225"/>
            <a:ext cx="3762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输入：方向=后端 / 难度=中级 / 题型=八股</a:t>
            </a:r>
          </a:p>
          <a:p xmlns:a="http://schemas.openxmlformats.org/drawingml/2006/main">
            <a:r>
              <a: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输出：一道带参考答案与考点的题，同时返回向量检索命中的题库条目与相似度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B1D1D-2AE1-4003-9BA6-BCE5C46B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19450"/>
            <a:ext cx="3762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失败或边界情况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3F614-C04A-4BA7-B4AD-6E7F3512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90925"/>
            <a:ext cx="376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① 结构化输出报 'NoneType' object has no attribute 'model_dump'：</a:t>
            </a:r>
          </a:p>
          <a:p xmlns:a="http://schemas.openxmlformats.org/drawingml/2006/main"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DeepSeek function calling 的 arguments 不保证合法 JSON（模型写了未转义引号即整段作废），</a:t>
            </a:r>
          </a:p>
          <a:p xmlns:a="http://schemas.openxmlformats.org/drawingml/2006/main"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实测约三成概率 → 改用 response_format=json_object + Pydantic 校验</a:t>
            </a:r>
          </a:p>
          <a:p xmlns:a="http://schemas.openxmlformats.org/drawingml/2006/main"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② 全部检索报 Cannot copy out of meta tensor，重启才好：</a:t>
            </a:r>
          </a:p>
          <a:p xmlns:a="http://schemas.openxmlformats.org/drawingml/2006/main"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预热线程与首个请求并发构造同一 HF 模型得到半初始化实例，坏实例缓存后永久生效</a:t>
            </a:r>
          </a:p>
          <a:p xmlns:a="http://schemas.openxmlformats.org/drawingml/2006/main"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→ 类内双重检查锁 + 模块级单例锁，刻意不用 lru_cache（它不锁构造，白占 2GB）</a:t>
            </a:r>
          </a:p>
          <a:p xmlns:a="http://schemas.openxmlformats.org/drawingml/2006/main"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③ 执行面板请求期间不动、结束后事件一次性全出：</a:t>
            </a:r>
          </a:p>
          <a:p xmlns:a="http://schemas.openxmlformats.org/drawingml/2006/main"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Next.js rewrites 是服务端代理，会先读完整个响应再转发 → 改为前端直连 + CORS</a:t>
            </a:r>
          </a:p>
          <a:p xmlns:a="http://schemas.openxmlformats.org/drawingml/2006/main"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④ 待复习队列永远是空的：毕业规则改成「答对一次」而队列按 is_wrong 过滤</a:t>
            </a:r>
          </a:p>
          <a:p xmlns:a="http://schemas.openxmlformats.org/drawingml/2006/main"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→ 改为连续答对 2 次才毕业（SM-2 在 quality&lt;3 时清零，review_count 天然等于连续答对次数）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7C65D-8251-46D0-8179-85703AC4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9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复现线索：conda 环境 langchain_latest (Python 3.11) + Docker Compose(PostgreSQL/Qdrant/Redis/MinIO)；</a:t>
            </a:r>
          </a:p>
          <a:p xmlns:a="http://schemas.openxmlformats.org/drawingml/2006/main">
            <a:r>
              <a:rPr sz="1019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代码版本 git 94f43bf；日志 backend/uvicorn.log、backend/benchmark/cloud-test.json</a:t>
            </a:r>
          </a:p>
          <a:p xmlns:a="http://schemas.openxmlformats.org/drawingml/2006/main">
            <a:r>
              <a:rPr sz="1019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目前状态：已完成 —— 题库入库→检索(3 模式)→出题去重→四维评分→追问→简历诊断→模拟面试→报告→错题本 SM-2，</a:t>
            </a:r>
          </a:p>
          <a:p xmlns:a="http://schemas.openxmlformats.org/drawingml/2006/main">
            <a:r>
              <a:rPr sz="1019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13 个前端页面、9 张 LangGraph 图、9 个 SSE 端点，五条业务链路真数据跑通；</a:t>
            </a:r>
          </a:p>
          <a:p xmlns:a="http://schemas.openxmlformats.org/drawingml/2006/main">
            <a:r>
              <a:rPr sz="1019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只是计划 —— vLLM 未在 GPU 跑过、LoRA 未训练、题库 12→50 条、评测集 2→50 条、面经库、Langfuse、单元测试</a:t>
            </a:r>
          </a:p>
        </p:txBody>
      </p:sp>
    </p:spTree>
    <p:extLst>
      <p:ext uri="{BB962C8B-B14F-4D97-AF65-F5344CB8AC3E}">
        <p14:creationId xmlns:p14="http://schemas.microsoft.com/office/powerpoint/2010/main" val="20121106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304CB-D030-4B86-8CF2-5AB20D71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对比评测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5A06B-B2C3-4A47-8FD3-CBADD55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对应：评测设计 15分。围绕第2页的痛点，用相同任务比较。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2BCB3-AC95-4AB0-8D54-90BFAE0F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建议 50 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6C543-85DA-4916-890F-E6566B42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06 / 07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68916-9E6F-492B-9F46-39DAA7543C9C}"/>
              </a:ext>
            </a:extLst>
          </p:cNvPr>
          <p:cNvGraphicFramePr/>
          <p:nvPr/>
        </p:nvGraphicFramePr>
        <p:xfrm>
          <a:off xmlns:a="http://schemas.openxmlformats.org/drawingml/2006/main" x="666750" y="1971675"/>
          <a:ext xmlns:a="http://schemas.openxmlformats.org/drawingml/2006/main" cx="10668000" cy="2524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2428875"/>
                <a:gridCol w="3000375"/>
                <a:gridCol w="2667000"/>
              </a:tblGrid>
              <a:tr h="555223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158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要改善什么</a:t>
                      </a:r>
                    </a:p>
                  </a:txBody>
                  <a:tcPr marL="91440" marR="91440" marT="45720" marB="45720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158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与谁比较</a:t>
                      </a:r>
                    </a:p>
                  </a:txBody>
                  <a:tcPr marL="91440" marR="91440" marT="45720" marB="45720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158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怎么测、测多少</a:t>
                      </a:r>
                    </a:p>
                  </a:txBody>
                  <a:tcPr marL="91440" marR="91440" marT="45720" marB="45720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158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目标或当前实测</a:t>
                      </a:r>
                    </a:p>
                  </a:txBody>
                  <a:tcPr marL="91440" marR="91440" marT="45720" marB="45720" anchor="ctr">
                    <a:solidFill>
                      <a:srgbClr val="F2F6F9"/>
                    </a:solidFill>
                  </a:tcPr>
                </a:tc>
              </a:tr>
              <a:tr h="656173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改进点 1</a:t>
                      </a:r>
                    </a:p>
                    <a:p>
                      <a:r>
                        <a:rPr lang="zh-CN"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评分是否贴近人工判断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11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未微调的</a:t>
                      </a:r>
                    </a:p>
                    <a:p>
                      <a:r>
                        <a:rPr lang="zh-CN" sz="11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deepseek-v4-flash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相同输入：同批 (题目,作答)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指标：一致率(±1分)+每维MAE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样本：50条人工标注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(40训 / 10条独立测试)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当前实测：无一例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(gold仅2条占位、LoRA未训练)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不引用未实测数字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目标：一致率≥0.75，MAE≤1.0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6173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改进点 2</a:t>
                      </a:r>
                    </a:p>
                    <a:p>
                      <a:r>
                        <a:rPr lang="zh-CN"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召回质量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纯稠密向量检索</a:t>
                      </a:r>
                    </a:p>
                    <a:p>
                      <a:r>
                        <a:rPr lang="zh-CN"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(当前默认)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相同查询：同批 20 条查询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指标：Recall@5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样本：20条×3模式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(dense/sparse/hybrid-RRF)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当前：三种模式均已实现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后台可热切换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待实测：Recall@5 数字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目标：hybrid &gt; dense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6173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改进点 3</a:t>
                      </a:r>
                    </a:p>
                    <a:p>
                      <a:r>
                        <a:rPr lang="zh-CN"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延迟与吞吐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9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云端 deepseek-v4-flash</a:t>
                      </a:r>
                    </a:p>
                    <a:p>
                      <a:r>
                        <a:rPr lang="zh-CN" sz="9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相同负载：固定prompt 200字符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并发4 / 总50请求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指标：首token P50、总延迟分位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QPS、错误率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当前实测(n=8)：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首token P50 2752.8ms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总延迟P50 3741.6ms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QPS 0.89 / 错误率 0%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目标：本地首token≤1500ms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5518A-94BE-48BF-89B5-224B34B2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怎样认定改进有用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E0552-D04E-442C-B358-37C08AFB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1066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① 一致性：|模型分 − 人工分| ≤ 1 记为一致，一致率 = 一致数 / 有效样本数；② 偏差：每维 MAE = mean(|预测 − 人工|)；③ 延迟：首 token 与总延迟分开统计；④ 失败处理：非法 JSON / 超时样本计入失败率，不丢弃（丢弃会让指标虚高）。</a:t>
            </a:r>
          </a:p>
          <a:p xmlns:a="http://schemas.openxmlformats.org/drawingml/2006/main"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独立样例：真值由本组人工标注（两人分别打分，差异 &gt;1 分第三人仲裁），在模型产出之前完成；40 条训练 + 10 条独立测试，测试集全程不参与训练与调参；召回评测另用 20 条真实查询。</a:t>
            </a:r>
          </a:p>
          <a:p xmlns:a="http://schemas.openxmlformats.org/drawingml/2006/main"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验收条件：10 条独立测试上总分一致率 ≥ 0.75 且总分 MAE ≤ 1.0 且 JSON 解析失败率 = 0，否则不宣称有效。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2FDC0-2758-4ECB-B4DF-5F6D70A7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2784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可选指标：任务正确率、操作步骤、完成时间、单次成本。只选与痛点相关的。</a:t>
            </a:r>
          </a:p>
        </p:txBody>
      </p:sp>
    </p:spTree>
    <p:extLst>
      <p:ext uri="{BB962C8B-B14F-4D97-AF65-F5344CB8AC3E}">
        <p14:creationId xmlns:p14="http://schemas.microsoft.com/office/powerpoint/2010/main" val="21249142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81402-B7CB-4C1F-AFDC-EF51445B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分工与计划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7AD63-BD60-4B22-85AE-783B03AA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对应：分工与现场答问 10分。每位成员能解释本人工作。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76628-0C26-4AB6-8C74-78043CB1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建议 35 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D583B-1E14-476D-9C60-C076BCB3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07 / 07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51C10-220D-4167-B3AC-D26D272C0B2E}"/>
              </a:ext>
            </a:extLst>
          </p:cNvPr>
          <p:cNvGraphicFramePr/>
          <p:nvPr/>
        </p:nvGraphicFramePr>
        <p:xfrm>
          <a:off xmlns:a="http://schemas.openxmlformats.org/drawingml/2006/main" x="666750" y="1700784"/>
          <a:ext xmlns:a="http://schemas.openxmlformats.org/drawingml/2006/main" cx="10668000" cy="2552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19250"/>
                <a:gridCol w="2809875"/>
                <a:gridCol w="4381500"/>
                <a:gridCol w="1857375"/>
              </a:tblGrid>
              <a:tr h="599480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158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91440" marR="91440" marT="45720" marB="45720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158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已经完成</a:t>
                      </a:r>
                    </a:p>
                  </a:txBody>
                  <a:tcPr marL="91440" marR="91440" marT="45720" marB="45720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158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下一步交付物</a:t>
                      </a:r>
                    </a:p>
                  </a:txBody>
                  <a:tcPr marL="91440" marR="91440" marT="45720" marB="45720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158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完成日期</a:t>
                      </a:r>
                    </a:p>
                  </a:txBody>
                  <a:tcPr marL="91440" marR="91440" marT="45720" marB="45720" anchor="ctr">
                    <a:solidFill>
                      <a:srgbClr val="F2F6F9"/>
                    </a:solidFill>
                  </a:tcPr>
                </a:tc>
              </a:tr>
              <a:tr h="531357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马乾恩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（组长）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 Agent 编排与 RAG 链路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LangGraph 9 图 12 节点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BGE-M3/rerank 本地接入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Qdrant 三模式检索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SSE 埋点(9 端点)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① 完成 LoRA 微调全流程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(导出→训练→评测)，出前后对比表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② P0：导出脚本加 answer_id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黑名单，消除训练/评测泄漏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14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2026-11-05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1357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蒋志敏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模型部署与网关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进程内 LiteLLM Router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LiteLLMChat 薄适配器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vLLM 三档量化脚本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压测脚本与实测报告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① GPU 环境起 vLLM fp16/awq/gptq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补齐三档实测数字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② 压测请求数 8 → 50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(当前 P99 置信度不足)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14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2026-11-08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1357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李贤星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 13 页 + 数据模型 + 文档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Next.js 15 移植 13 个页面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执行面板/雷达/错题本组件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张表的数据模型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条种子题数据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① P0：补拍界面截图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(docs/images 现全是架构图)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② 题库 12→50 条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标注评测集 2→50 条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③ 接面经库与画像自动更新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14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2026-11-12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1357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（全组）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端到端联调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五条业务链路真数据跑通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(刷题/错题本/简历/面试/报告)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next build 通过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uvicorn.log 有真实 200 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① 管理端四页与大屏浏览器实测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② 录 30 秒演示录屏(断网兜底)</a:t>
                      </a:r>
                    </a:p>
                    <a:p>
                      <a:r>
                        <a:rPr lang="zh-CN" sz="80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③ P0：补 6 个纯函数单元测试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lang="zh-CN" sz="14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2026-11-10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5E05A-C70A-47F7-9436-7CDA342D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6592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主要风险与备选方案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86DE8-BB10-4761-87AC-3044F888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① 无 GPU，vLLM 起不来 → 保留云端实测行，量化对比降级为「只报云端 + 标注非本组实测」；② 题库/标注工作量大 → 优先保 10 条独立测试质量，训练 40 条可延后，出题 Agent 反哺题库；</a:t>
            </a:r>
          </a:p>
          <a:p xmlns:a="http://schemas.openxmlformats.org/drawingml/2006/main"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③ 标注一致性差 → 仲裁人机制 + 标注前统一 rubric 示例，一致率写进验收；④ 微调数据挤在中档 → 先补数据再加 epoch，不靠调超参硬凑；</a:t>
            </a:r>
          </a:p>
          <a:p xmlns:a="http://schemas.openxmlformats.org/drawingml/2006/main">
            <a:r>
              <a:rPr sz="112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⑤ 现场断网/限流 → 后台切本地 vLLM（热生效），兜底投 uvicorn.log，再兜底播录屏；⑥ 面经库无授权语料 → 列为 P1，首版用题库库单库完成闭环。</a:t>
            </a:r>
          </a:p>
        </p:txBody>
      </p:sp>
    </p:spTree>
    <p:extLst>
      <p:ext uri="{BB962C8B-B14F-4D97-AF65-F5344CB8AC3E}">
        <p14:creationId xmlns:p14="http://schemas.microsoft.com/office/powerpoint/2010/main" val="381290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2026-10-09T02:23:25.2690000Z</dcterms:created>
  <dcterms:modified xsi:type="dcterms:W3CDTF">2026-10-09T02:23:25.2690000Z</dcterms:modified>
</coreProperties>
</file>